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Bitter" panose="020B0604020202020204" charset="-93"/>
      <p:regular r:id="rId13"/>
    </p:embeddedFont>
    <p:embeddedFont>
      <p:font typeface="Bitter SemiBold" panose="020B0604020202020204" charset="-93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Noto Sans" panose="020B0502040504020204" pitchFamily="3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amquangdung1710@gmail.com" userId="5106290844d1bcac" providerId="LiveId" clId="{177D6134-AFCE-4C77-8D8B-363911847ED4}"/>
    <pc:docChg chg="custSel modSld">
      <pc:chgData name="phamquangdung1710@gmail.com" userId="5106290844d1bcac" providerId="LiveId" clId="{177D6134-AFCE-4C77-8D8B-363911847ED4}" dt="2026-10-17T03:37:52.389" v="357" actId="20577"/>
      <pc:docMkLst>
        <pc:docMk/>
      </pc:docMkLst>
      <pc:sldChg chg="modSp mod">
        <pc:chgData name="phamquangdung1710@gmail.com" userId="5106290844d1bcac" providerId="LiveId" clId="{177D6134-AFCE-4C77-8D8B-363911847ED4}" dt="2026-10-17T03:05:28.560" v="300" actId="20577"/>
        <pc:sldMkLst>
          <pc:docMk/>
          <pc:sldMk cId="0" sldId="259"/>
        </pc:sldMkLst>
        <pc:spChg chg="mod">
          <ac:chgData name="phamquangdung1710@gmail.com" userId="5106290844d1bcac" providerId="LiveId" clId="{177D6134-AFCE-4C77-8D8B-363911847ED4}" dt="2026-10-17T03:03:44.195" v="27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phamquangdung1710@gmail.com" userId="5106290844d1bcac" providerId="LiveId" clId="{177D6134-AFCE-4C77-8D8B-363911847ED4}" dt="2026-10-17T03:04:23.241" v="102" actId="20577"/>
          <ac:spMkLst>
            <pc:docMk/>
            <pc:sldMk cId="0" sldId="259"/>
            <ac:spMk id="17" creationId="{00000000-0000-0000-0000-000000000000}"/>
          </ac:spMkLst>
        </pc:spChg>
        <pc:spChg chg="mod">
          <ac:chgData name="phamquangdung1710@gmail.com" userId="5106290844d1bcac" providerId="LiveId" clId="{177D6134-AFCE-4C77-8D8B-363911847ED4}" dt="2026-10-17T03:05:28.560" v="300" actId="20577"/>
          <ac:spMkLst>
            <pc:docMk/>
            <pc:sldMk cId="0" sldId="259"/>
            <ac:spMk id="18" creationId="{00000000-0000-0000-0000-000000000000}"/>
          </ac:spMkLst>
        </pc:spChg>
      </pc:sldChg>
      <pc:sldChg chg="addSp delSp modSp mod">
        <pc:chgData name="phamquangdung1710@gmail.com" userId="5106290844d1bcac" providerId="LiveId" clId="{177D6134-AFCE-4C77-8D8B-363911847ED4}" dt="2026-10-17T03:34:07.852" v="322" actId="20577"/>
        <pc:sldMkLst>
          <pc:docMk/>
          <pc:sldMk cId="0" sldId="260"/>
        </pc:sldMkLst>
        <pc:spChg chg="mod">
          <ac:chgData name="phamquangdung1710@gmail.com" userId="5106290844d1bcac" providerId="LiveId" clId="{177D6134-AFCE-4C77-8D8B-363911847ED4}" dt="2026-10-17T03:34:07.852" v="322" actId="20577"/>
          <ac:spMkLst>
            <pc:docMk/>
            <pc:sldMk cId="0" sldId="260"/>
            <ac:spMk id="5" creationId="{00000000-0000-0000-0000-000000000000}"/>
          </ac:spMkLst>
        </pc:spChg>
        <pc:picChg chg="del">
          <ac:chgData name="phamquangdung1710@gmail.com" userId="5106290844d1bcac" providerId="LiveId" clId="{177D6134-AFCE-4C77-8D8B-363911847ED4}" dt="2026-10-17T03:30:50.808" v="301" actId="478"/>
          <ac:picMkLst>
            <pc:docMk/>
            <pc:sldMk cId="0" sldId="260"/>
            <ac:picMk id="6" creationId="{00000000-0000-0000-0000-000000000000}"/>
          </ac:picMkLst>
        </pc:picChg>
        <pc:picChg chg="add del mod">
          <ac:chgData name="phamquangdung1710@gmail.com" userId="5106290844d1bcac" providerId="LiveId" clId="{177D6134-AFCE-4C77-8D8B-363911847ED4}" dt="2026-10-17T03:32:22.955" v="306" actId="478"/>
          <ac:picMkLst>
            <pc:docMk/>
            <pc:sldMk cId="0" sldId="260"/>
            <ac:picMk id="10" creationId="{22DE53A9-2A2B-4412-9166-FA7CE1A08CDA}"/>
          </ac:picMkLst>
        </pc:picChg>
        <pc:picChg chg="add mod">
          <ac:chgData name="phamquangdung1710@gmail.com" userId="5106290844d1bcac" providerId="LiveId" clId="{177D6134-AFCE-4C77-8D8B-363911847ED4}" dt="2026-10-17T03:33:41.389" v="311" actId="14100"/>
          <ac:picMkLst>
            <pc:docMk/>
            <pc:sldMk cId="0" sldId="260"/>
            <ac:picMk id="12" creationId="{19665A12-D3C5-4701-9990-0FBDC7C2A7E2}"/>
          </ac:picMkLst>
        </pc:picChg>
      </pc:sldChg>
      <pc:sldChg chg="modSp mod">
        <pc:chgData name="phamquangdung1710@gmail.com" userId="5106290844d1bcac" providerId="LiveId" clId="{177D6134-AFCE-4C77-8D8B-363911847ED4}" dt="2026-10-17T03:36:02.056" v="355" actId="20577"/>
        <pc:sldMkLst>
          <pc:docMk/>
          <pc:sldMk cId="0" sldId="261"/>
        </pc:sldMkLst>
        <pc:spChg chg="mod">
          <ac:chgData name="phamquangdung1710@gmail.com" userId="5106290844d1bcac" providerId="LiveId" clId="{177D6134-AFCE-4C77-8D8B-363911847ED4}" dt="2026-10-17T03:36:02.056" v="355" actId="20577"/>
          <ac:spMkLst>
            <pc:docMk/>
            <pc:sldMk cId="0" sldId="261"/>
            <ac:spMk id="8" creationId="{00000000-0000-0000-0000-000000000000}"/>
          </ac:spMkLst>
        </pc:spChg>
      </pc:sldChg>
      <pc:sldChg chg="modSp mod">
        <pc:chgData name="phamquangdung1710@gmail.com" userId="5106290844d1bcac" providerId="LiveId" clId="{177D6134-AFCE-4C77-8D8B-363911847ED4}" dt="2026-10-17T03:37:52.389" v="357" actId="20577"/>
        <pc:sldMkLst>
          <pc:docMk/>
          <pc:sldMk cId="0" sldId="262"/>
        </pc:sldMkLst>
        <pc:spChg chg="mod">
          <ac:chgData name="phamquangdung1710@gmail.com" userId="5106290844d1bcac" providerId="LiveId" clId="{177D6134-AFCE-4C77-8D8B-363911847ED4}" dt="2026-10-17T03:37:52.389" v="357" actId="20577"/>
          <ac:spMkLst>
            <pc:docMk/>
            <pc:sldMk cId="0" sldId="262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2139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7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7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17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80" y="1219200"/>
            <a:ext cx="6857828" cy="4419600"/>
          </a:xfrm>
          <a:prstGeom prst="rect">
            <a:avLst/>
          </a:prstGeom>
          <a:noFill/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5479" y="1231900"/>
            <a:ext cx="6832429" cy="43942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282668" y="1638300"/>
            <a:ext cx="652763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SOCCER247 · DỰ ÁN HỆ THỐNG VẬN HÀNH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282668" y="1937580"/>
            <a:ext cx="5918052" cy="142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Soccer247 - Hệ Thống Quản Lý &amp; Đặt Sân Bóng Đá Toàn Diện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282668" y="3545086"/>
            <a:ext cx="1479414" cy="19050"/>
          </a:xfrm>
          <a:prstGeom prst="roundRect">
            <a:avLst>
              <a:gd name="adj" fmla="val 49999"/>
            </a:avLst>
          </a:prstGeom>
          <a:solidFill>
            <a:srgbClr val="4A3670"/>
          </a:solidFill>
          <a:ln/>
        </p:spPr>
      </p:sp>
      <p:sp>
        <p:nvSpPr>
          <p:cNvPr id="7" name="Text 5"/>
          <p:cNvSpPr/>
          <p:nvPr/>
        </p:nvSpPr>
        <p:spPr>
          <a:xfrm>
            <a:off x="1282668" y="3767336"/>
            <a:ext cx="591805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Giải pháp số hóa “All-in-One” cho quy trình kinh doanh và vận hành sân nhân tạo.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2668" y="4423767"/>
            <a:ext cx="5918052" cy="542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Cao Văn Hột Xoàn - MSSV: 525000452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Phạm Tiến Doanh - MSSV: 525000463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01 — TỔNG QUAN NỀN TẢNG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08560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F2ED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Tổng quan dự án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494036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Nền tảng Web Application Fullstack áp dụng kiến trúc Client-Server hiện đại.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9585" y="1902916"/>
            <a:ext cx="3454314" cy="4345484"/>
          </a:xfrm>
          <a:prstGeom prst="rect">
            <a:avLst/>
          </a:prstGeom>
          <a:solidFill>
            <a:srgbClr val="17102B"/>
          </a:solidFill>
          <a:ln w="12700">
            <a:solidFill>
              <a:srgbClr val="4A367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879" y="2195016"/>
            <a:ext cx="355591" cy="355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879" y="2655391"/>
            <a:ext cx="321302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PHÂN HỆ NGƯỜI DÙNG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50879" y="2991247"/>
            <a:ext cx="2971726" cy="19050"/>
          </a:xfrm>
          <a:prstGeom prst="roundRect">
            <a:avLst>
              <a:gd name="adj" fmla="val 49999"/>
            </a:avLst>
          </a:prstGeom>
          <a:solidFill>
            <a:srgbClr val="B79CF5"/>
          </a:solidFill>
          <a:ln/>
        </p:spPr>
      </p:sp>
      <p:sp>
        <p:nvSpPr>
          <p:cNvPr id="9" name="Text 6"/>
          <p:cNvSpPr/>
          <p:nvPr/>
        </p:nvSpPr>
        <p:spPr>
          <a:xfrm>
            <a:off x="850879" y="3159522"/>
            <a:ext cx="297172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Trải nghiệm đặt sân trực tuyến cho khách hàng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68691" y="1902916"/>
            <a:ext cx="3454314" cy="4345484"/>
          </a:xfrm>
          <a:prstGeom prst="rect">
            <a:avLst/>
          </a:prstGeom>
          <a:solidFill>
            <a:srgbClr val="4A3670"/>
          </a:solidFill>
          <a:ln w="12700">
            <a:solidFill>
              <a:srgbClr val="4A367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9985" y="2195016"/>
            <a:ext cx="355591" cy="355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09985" y="2655391"/>
            <a:ext cx="321302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ĐIỀU HÀNH TẠI CHỖ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609985" y="3159522"/>
            <a:ext cx="297172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Hệ thống POS vận hành tại quầy cho nhân viên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27797" y="1902916"/>
            <a:ext cx="3454314" cy="4345484"/>
          </a:xfrm>
          <a:prstGeom prst="rect">
            <a:avLst/>
          </a:prstGeom>
          <a:solidFill>
            <a:srgbClr val="17102B"/>
          </a:solidFill>
          <a:ln w="12700">
            <a:solidFill>
              <a:srgbClr val="4A3670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9091" y="2195016"/>
            <a:ext cx="355591" cy="355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69091" y="2655391"/>
            <a:ext cx="321302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QUẢN TRỊ TRUNG TÂM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369091" y="2991247"/>
            <a:ext cx="2971726" cy="19050"/>
          </a:xfrm>
          <a:prstGeom prst="roundRect">
            <a:avLst>
              <a:gd name="adj" fmla="val 49999"/>
            </a:avLst>
          </a:prstGeom>
          <a:solidFill>
            <a:srgbClr val="B79CF5"/>
          </a:solidFill>
          <a:ln/>
        </p:spPr>
      </p:sp>
      <p:sp>
        <p:nvSpPr>
          <p:cNvPr id="18" name="Text 13"/>
          <p:cNvSpPr/>
          <p:nvPr/>
        </p:nvSpPr>
        <p:spPr>
          <a:xfrm>
            <a:off x="8369091" y="3159522"/>
            <a:ext cx="297172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Trang quản trị điều hành chuyên sâu cho chủ sân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77895" y="6466086"/>
            <a:ext cx="89780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2026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946135" y="6466086"/>
            <a:ext cx="24556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241352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02 — CƠ CHẾ ĐỒNG BỘ THỜI GIAN THỰC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2540312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F2ED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Realtime Court Locking giải quyết bài toán trùng lịch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151188"/>
            <a:ext cx="444489" cy="444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3775157"/>
            <a:ext cx="3352716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B79CF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Thao tác giữ chỗ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09585" y="4118868"/>
            <a:ext cx="335271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Kích hoạt ngay khi khách hàng đang thao tác giữ chỗ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489" y="3151188"/>
            <a:ext cx="444489" cy="444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19489" y="3775157"/>
            <a:ext cx="3352716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B79CF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Phát sóng Realtime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4419489" y="4118868"/>
            <a:ext cx="335271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Xử lý trùng lịch sân bằng công nghệ Socket.IO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394" y="3151188"/>
            <a:ext cx="444489" cy="4445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394" y="3775157"/>
            <a:ext cx="3352716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B79CF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Khóa slot tức thì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8229394" y="4118868"/>
            <a:ext cx="335271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Khóa slot tạm thời theo thời gian thực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177895" y="6466086"/>
            <a:ext cx="89780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2026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1942960" y="6466086"/>
            <a:ext cx="2487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03 — TÀI CHÍNH &amp; THANH TOÁN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08560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F2ED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Thanh toán linh hoạt, hoàn </a:t>
            </a:r>
            <a:r>
              <a:rPr lang="en-US" sz="3200" dirty="0" err="1">
                <a:solidFill>
                  <a:srgbClr val="F2ED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tiền</a:t>
            </a:r>
            <a:r>
              <a:rPr lang="en-US" sz="3200" dirty="0">
                <a:solidFill>
                  <a:srgbClr val="F2ED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qua Email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1544836"/>
            <a:ext cx="2514537" cy="4703564"/>
          </a:xfrm>
          <a:prstGeom prst="rect">
            <a:avLst/>
          </a:prstGeom>
          <a:solidFill>
            <a:srgbClr val="17102B"/>
          </a:solidFill>
          <a:ln w="12700">
            <a:solidFill>
              <a:srgbClr val="4A36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5479" y="1786136"/>
            <a:ext cx="79700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5479" y="2035076"/>
            <a:ext cx="2082748" cy="190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7" name="Text 5"/>
          <p:cNvSpPr/>
          <p:nvPr/>
        </p:nvSpPr>
        <p:spPr>
          <a:xfrm>
            <a:off x="825479" y="2181506"/>
            <a:ext cx="208274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Đặt cọc linh hoạt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5479" y="3953867"/>
            <a:ext cx="208274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Đặt cọc 30% hoặc thanh toán toàn phần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28914" y="1544836"/>
            <a:ext cx="2514537" cy="4703564"/>
          </a:xfrm>
          <a:prstGeom prst="rect">
            <a:avLst/>
          </a:prstGeom>
          <a:solidFill>
            <a:srgbClr val="17102B"/>
          </a:solidFill>
          <a:ln w="12700">
            <a:solidFill>
              <a:srgbClr val="4A36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44809" y="1786136"/>
            <a:ext cx="82190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44809" y="2035076"/>
            <a:ext cx="2082748" cy="190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12" name="Text 10"/>
          <p:cNvSpPr/>
          <p:nvPr/>
        </p:nvSpPr>
        <p:spPr>
          <a:xfrm>
            <a:off x="3644809" y="2181506"/>
            <a:ext cx="208274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Tích hợp PayOS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44809" y="3953867"/>
            <a:ext cx="208274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Tích hợp cổng QR PayOS tự động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48244" y="1544836"/>
            <a:ext cx="2514537" cy="4703564"/>
          </a:xfrm>
          <a:prstGeom prst="rect">
            <a:avLst/>
          </a:prstGeom>
          <a:solidFill>
            <a:srgbClr val="17102B"/>
          </a:solidFill>
          <a:ln w="12700">
            <a:solidFill>
              <a:srgbClr val="4A36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138" y="1786136"/>
            <a:ext cx="82498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64138" y="2035076"/>
            <a:ext cx="2082748" cy="190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17" name="Text 15"/>
          <p:cNvSpPr/>
          <p:nvPr/>
        </p:nvSpPr>
        <p:spPr>
          <a:xfrm>
            <a:off x="6464138" y="2181506"/>
            <a:ext cx="208274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 err="1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Hoàn</a:t>
            </a:r>
            <a:r>
              <a:rPr lang="en-US" sz="17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700" dirty="0" err="1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tiền</a:t>
            </a:r>
            <a:r>
              <a:rPr lang="en-US" sz="17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qua </a:t>
            </a:r>
            <a:r>
              <a:rPr lang="en-US" sz="1700" dirty="0" err="1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CSKH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64138" y="3829447"/>
            <a:ext cx="2082748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 err="1">
                <a:solidFill>
                  <a:srgbClr val="FFFFFF"/>
                </a:solidFill>
                <a:latin typeface="Bitter" pitchFamily="34" charset="0"/>
              </a:rPr>
              <a:t>Khách</a:t>
            </a:r>
            <a:r>
              <a:rPr lang="en-US" sz="1400" dirty="0">
                <a:solidFill>
                  <a:srgbClr val="FFFFFF"/>
                </a:solidFill>
                <a:latin typeface="Bitter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Bitter" pitchFamily="34" charset="0"/>
              </a:rPr>
              <a:t>hàng</a:t>
            </a:r>
            <a:r>
              <a:rPr lang="en-US" sz="1400" dirty="0">
                <a:solidFill>
                  <a:srgbClr val="FFFFFF"/>
                </a:solidFill>
                <a:latin typeface="Bitter" pitchFamily="34" charset="0"/>
              </a:rPr>
              <a:t>  </a:t>
            </a:r>
            <a:r>
              <a:rPr lang="en-US" sz="1400" dirty="0" err="1">
                <a:solidFill>
                  <a:srgbClr val="FFFFFF"/>
                </a:solidFill>
                <a:latin typeface="Bitter" pitchFamily="34" charset="0"/>
              </a:rPr>
              <a:t>gửi</a:t>
            </a:r>
            <a:r>
              <a:rPr lang="en-US" sz="1400" dirty="0">
                <a:solidFill>
                  <a:srgbClr val="FFFFFF"/>
                </a:solidFill>
                <a:latin typeface="Bitter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Bitter" pitchFamily="34" charset="0"/>
              </a:rPr>
              <a:t>yêu</a:t>
            </a:r>
            <a:r>
              <a:rPr lang="en-US" sz="1400" dirty="0">
                <a:solidFill>
                  <a:srgbClr val="FFFFFF"/>
                </a:solidFill>
                <a:latin typeface="Bitter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Bitter" pitchFamily="34" charset="0"/>
              </a:rPr>
              <a:t>cầu</a:t>
            </a:r>
            <a:r>
              <a:rPr lang="en-US" sz="1400" dirty="0">
                <a:solidFill>
                  <a:srgbClr val="FFFFFF"/>
                </a:solidFill>
                <a:latin typeface="Bitter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Bitter" pitchFamily="34" charset="0"/>
              </a:rPr>
              <a:t>thông</a:t>
            </a:r>
            <a:r>
              <a:rPr lang="en-US" sz="1400" dirty="0">
                <a:solidFill>
                  <a:srgbClr val="FFFFFF"/>
                </a:solidFill>
                <a:latin typeface="Bitter" pitchFamily="34" charset="0"/>
              </a:rPr>
              <a:t> qua </a:t>
            </a:r>
            <a:r>
              <a:rPr lang="en-US" sz="1400" dirty="0" err="1">
                <a:solidFill>
                  <a:srgbClr val="FFFFFF"/>
                </a:solidFill>
                <a:latin typeface="Bitter" pitchFamily="34" charset="0"/>
              </a:rPr>
              <a:t>phần</a:t>
            </a:r>
            <a:r>
              <a:rPr lang="en-US" sz="1400" dirty="0">
                <a:solidFill>
                  <a:srgbClr val="FFFFFF"/>
                </a:solidFill>
                <a:latin typeface="Bitter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Bitter" pitchFamily="34" charset="0"/>
              </a:rPr>
              <a:t>liên</a:t>
            </a:r>
            <a:r>
              <a:rPr lang="en-US" sz="1400" dirty="0">
                <a:solidFill>
                  <a:srgbClr val="FFFFFF"/>
                </a:solidFill>
                <a:latin typeface="Bitter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Bitter" pitchFamily="34" charset="0"/>
              </a:rPr>
              <a:t>hệ</a:t>
            </a:r>
            <a:r>
              <a:rPr lang="en-US" sz="1400" dirty="0">
                <a:solidFill>
                  <a:srgbClr val="FFFFFF"/>
                </a:solidFill>
                <a:latin typeface="Bitter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Bitter" pitchFamily="34" charset="0"/>
              </a:rPr>
              <a:t>để</a:t>
            </a:r>
            <a:r>
              <a:rPr lang="en-US" sz="1400" dirty="0">
                <a:solidFill>
                  <a:srgbClr val="FFFFFF"/>
                </a:solidFill>
                <a:latin typeface="Bitter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Bitter" pitchFamily="34" charset="0"/>
              </a:rPr>
              <a:t>hoàn</a:t>
            </a:r>
            <a:r>
              <a:rPr lang="en-US" sz="1400" dirty="0">
                <a:solidFill>
                  <a:srgbClr val="FFFFFF"/>
                </a:solidFill>
                <a:latin typeface="Bitter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Bitter" pitchFamily="34" charset="0"/>
              </a:rPr>
              <a:t>tiền</a:t>
            </a:r>
            <a:r>
              <a:rPr lang="en-US" sz="1400" dirty="0">
                <a:solidFill>
                  <a:srgbClr val="FFFFFF"/>
                </a:solidFill>
                <a:latin typeface="Bitter" pitchFamily="34" charset="0"/>
              </a:rPr>
              <a:t> 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067573" y="1544836"/>
            <a:ext cx="2514537" cy="4703564"/>
          </a:xfrm>
          <a:prstGeom prst="rect">
            <a:avLst/>
          </a:prstGeom>
          <a:solidFill>
            <a:srgbClr val="4A3670"/>
          </a:solidFill>
          <a:ln w="12700">
            <a:solidFill>
              <a:srgbClr val="4A36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83468" y="1786136"/>
            <a:ext cx="82974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283468" y="2035076"/>
            <a:ext cx="2082748" cy="190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22" name="Text 20"/>
          <p:cNvSpPr/>
          <p:nvPr/>
        </p:nvSpPr>
        <p:spPr>
          <a:xfrm>
            <a:off x="9283468" y="2181506"/>
            <a:ext cx="208274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Đối soát lịch sử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83468" y="3953867"/>
            <a:ext cx="208274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Cập nhật lịch sử giao dịch sau xử lý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77895" y="6466086"/>
            <a:ext cx="89780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2026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941174" y="6466086"/>
            <a:ext cx="25052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2068711"/>
            <a:ext cx="685782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04 — GIAO DIỆN NGƯỜI DÙNG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2367671"/>
            <a:ext cx="6324442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F2ED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Phân hệ Khách hàng - Customer Web App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189" y="3444577"/>
            <a:ext cx="6324442" cy="19050"/>
          </a:xfrm>
          <a:prstGeom prst="roundRect">
            <a:avLst>
              <a:gd name="adj" fmla="val 49999"/>
            </a:avLst>
          </a:prstGeom>
          <a:solidFill>
            <a:srgbClr val="4A3670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3660477"/>
            <a:ext cx="6324442" cy="1128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Giao diện thân thiện, hỗ trợ Dark/Light mode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Bản đồ Leaflet định vị sân trực quan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Tra cứu lịch trống và đặt sân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Mua kèm dịch vụ: </a:t>
            </a:r>
            <a:r>
              <a:rPr lang="en-US" sz="1400" dirty="0" err="1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nước</a:t>
            </a: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</a:t>
            </a:r>
            <a:r>
              <a:rPr lang="en-US" sz="1400" dirty="0" err="1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uống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77895" y="6466086"/>
            <a:ext cx="89780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2026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62610" y="6466086"/>
            <a:ext cx="67606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5</a:t>
            </a:r>
            <a:endParaRPr lang="en-US" sz="1000" dirty="0"/>
          </a:p>
        </p:txBody>
      </p:sp>
      <p:pic>
        <p:nvPicPr>
          <p:cNvPr id="12" name="Hình ảnh 11">
            <a:extLst>
              <a:ext uri="{FF2B5EF4-FFF2-40B4-BE49-F238E27FC236}">
                <a16:creationId xmlns:a16="http://schemas.microsoft.com/office/drawing/2014/main" id="{19665A12-D3C5-4701-9990-0FBDC7C2A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466" y="34444"/>
            <a:ext cx="5088575" cy="6823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05 — VẬN HÀNH TẠI QUẦY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08560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F2ED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Phân hệ Nhân viên - POS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1519436"/>
            <a:ext cx="5333867" cy="4728964"/>
          </a:xfrm>
          <a:prstGeom prst="rect">
            <a:avLst/>
          </a:prstGeom>
          <a:solidFill>
            <a:srgbClr val="17102B"/>
          </a:solidFill>
          <a:ln w="12700">
            <a:solidFill>
              <a:srgbClr val="4A367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677" y="1811536"/>
            <a:ext cx="355591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1677" y="2295195"/>
            <a:ext cx="4749681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Quản lý mặt sân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901677" y="2722761"/>
            <a:ext cx="4749681" cy="19050"/>
          </a:xfrm>
          <a:prstGeom prst="roundRect">
            <a:avLst>
              <a:gd name="adj" fmla="val 49999"/>
            </a:avLst>
          </a:prstGeom>
          <a:solidFill>
            <a:srgbClr val="4A3670"/>
          </a:solidFill>
          <a:ln/>
        </p:spPr>
      </p:sp>
      <p:sp>
        <p:nvSpPr>
          <p:cNvPr id="8" name="Text 5"/>
          <p:cNvSpPr/>
          <p:nvPr/>
        </p:nvSpPr>
        <p:spPr>
          <a:xfrm>
            <a:off x="901677" y="2891036"/>
            <a:ext cx="4749681" cy="542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Giám sát lưới sân: Đang trống / Đã đặt / </a:t>
            </a:r>
            <a:r>
              <a:rPr lang="en-US" sz="1400" dirty="0" err="1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Tạm</a:t>
            </a: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Khóa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Force Unlock để xử lý sự cố vận hành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48244" y="1519436"/>
            <a:ext cx="5333867" cy="4728964"/>
          </a:xfrm>
          <a:prstGeom prst="rect">
            <a:avLst/>
          </a:prstGeom>
          <a:solidFill>
            <a:srgbClr val="17102B"/>
          </a:solidFill>
          <a:ln w="12700">
            <a:solidFill>
              <a:srgbClr val="4A367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0336" y="1811536"/>
            <a:ext cx="355591" cy="355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40336" y="2295195"/>
            <a:ext cx="4749681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Thu ngân &amp; Dịch vụ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6540336" y="2722761"/>
            <a:ext cx="4749681" cy="19050"/>
          </a:xfrm>
          <a:prstGeom prst="roundRect">
            <a:avLst>
              <a:gd name="adj" fmla="val 49999"/>
            </a:avLst>
          </a:prstGeom>
          <a:solidFill>
            <a:srgbClr val="4A3670"/>
          </a:solidFill>
          <a:ln/>
        </p:spPr>
      </p:sp>
      <p:sp>
        <p:nvSpPr>
          <p:cNvPr id="13" name="Text 9"/>
          <p:cNvSpPr/>
          <p:nvPr/>
        </p:nvSpPr>
        <p:spPr>
          <a:xfrm>
            <a:off x="6540336" y="2891036"/>
            <a:ext cx="4749681" cy="542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Check-in nhanh và xử lý dịch vụ phát sinh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Tạo đơn bán lẻ nước uống, dịch vụ độc lập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77895" y="6466086"/>
            <a:ext cx="89780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2026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940777" y="6466086"/>
            <a:ext cx="25091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7667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35464" y="2068711"/>
            <a:ext cx="675623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06 — ĐIỀU HÀNH TỔNG THỂ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435464" y="2367671"/>
            <a:ext cx="6222844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F2ED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Phân hệ Quản trị viên - Admin Dashboard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35464" y="3444577"/>
            <a:ext cx="6222745" cy="19050"/>
          </a:xfrm>
          <a:prstGeom prst="roundRect">
            <a:avLst>
              <a:gd name="adj" fmla="val 49999"/>
            </a:avLst>
          </a:prstGeom>
          <a:solidFill>
            <a:srgbClr val="4A3670"/>
          </a:solidFill>
          <a:ln/>
        </p:spPr>
      </p:sp>
      <p:sp>
        <p:nvSpPr>
          <p:cNvPr id="6" name="Text 3"/>
          <p:cNvSpPr/>
          <p:nvPr/>
        </p:nvSpPr>
        <p:spPr>
          <a:xfrm>
            <a:off x="5435464" y="3660477"/>
            <a:ext cx="6222844" cy="1128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Trang điều khiển trung tâm </a:t>
            </a:r>
            <a:r>
              <a:rPr lang="en-US" sz="1400" dirty="0" err="1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với</a:t>
            </a: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16 module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Theo dõi doanh thu, cấu hình bảng giá theo khung giờ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Quản lý kho hàng: Nhập / Xuất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Phân quyền người dùng và quản trị nội dung CMS/Banner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51785" y="6466086"/>
            <a:ext cx="89780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2026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951393" y="6466086"/>
            <a:ext cx="24030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07 — KIẾN TRÚC CÔNG NGHỆ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08560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F2ED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Nền tảng kỹ thuật - 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1519436"/>
            <a:ext cx="2514537" cy="4728964"/>
          </a:xfrm>
          <a:prstGeom prst="rect">
            <a:avLst/>
          </a:prstGeom>
          <a:solidFill>
            <a:srgbClr val="17102B"/>
          </a:solidFill>
          <a:ln w="12700">
            <a:solidFill>
              <a:srgbClr val="4A367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479" y="1786136"/>
            <a:ext cx="355591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5479" y="2267231"/>
            <a:ext cx="208274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Frontend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5479" y="2655391"/>
            <a:ext cx="2082748" cy="19050"/>
          </a:xfrm>
          <a:prstGeom prst="roundRect">
            <a:avLst>
              <a:gd name="adj" fmla="val 49999"/>
            </a:avLst>
          </a:prstGeom>
          <a:solidFill>
            <a:srgbClr val="7C3AED"/>
          </a:solidFill>
          <a:ln/>
        </p:spPr>
      </p:sp>
      <p:sp>
        <p:nvSpPr>
          <p:cNvPr id="8" name="Text 5"/>
          <p:cNvSpPr/>
          <p:nvPr/>
        </p:nvSpPr>
        <p:spPr>
          <a:xfrm>
            <a:off x="825479" y="2823666"/>
            <a:ext cx="2082748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Frontend: Next.js 16, React 19, TailwindCSS v4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428914" y="1519436"/>
            <a:ext cx="2514537" cy="4728964"/>
          </a:xfrm>
          <a:prstGeom prst="rect">
            <a:avLst/>
          </a:prstGeom>
          <a:solidFill>
            <a:srgbClr val="17102B"/>
          </a:solidFill>
          <a:ln w="12700">
            <a:solidFill>
              <a:srgbClr val="4A367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809" y="1786136"/>
            <a:ext cx="355591" cy="355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44809" y="2267231"/>
            <a:ext cx="208274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Backend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3644809" y="2655391"/>
            <a:ext cx="2082748" cy="19050"/>
          </a:xfrm>
          <a:prstGeom prst="roundRect">
            <a:avLst>
              <a:gd name="adj" fmla="val 49999"/>
            </a:avLst>
          </a:prstGeom>
          <a:solidFill>
            <a:srgbClr val="7C3AED"/>
          </a:solidFill>
          <a:ln/>
        </p:spPr>
      </p:sp>
      <p:sp>
        <p:nvSpPr>
          <p:cNvPr id="13" name="Text 9"/>
          <p:cNvSpPr/>
          <p:nvPr/>
        </p:nvSpPr>
        <p:spPr>
          <a:xfrm>
            <a:off x="3644809" y="2823666"/>
            <a:ext cx="2082748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Backend: Node.js, Express.js, Socket.IO, JWT bảo mật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248244" y="1519436"/>
            <a:ext cx="2514537" cy="4728964"/>
          </a:xfrm>
          <a:prstGeom prst="rect">
            <a:avLst/>
          </a:prstGeom>
          <a:solidFill>
            <a:srgbClr val="17102B"/>
          </a:solidFill>
          <a:ln w="12700">
            <a:solidFill>
              <a:srgbClr val="4A3670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138" y="1786136"/>
            <a:ext cx="355591" cy="355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64138" y="2267231"/>
            <a:ext cx="208274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Cloud Media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6464138" y="2655391"/>
            <a:ext cx="2082748" cy="19050"/>
          </a:xfrm>
          <a:prstGeom prst="roundRect">
            <a:avLst>
              <a:gd name="adj" fmla="val 49999"/>
            </a:avLst>
          </a:prstGeom>
          <a:solidFill>
            <a:srgbClr val="7C3AED"/>
          </a:solidFill>
          <a:ln/>
        </p:spPr>
      </p:sp>
      <p:sp>
        <p:nvSpPr>
          <p:cNvPr id="18" name="Text 13"/>
          <p:cNvSpPr/>
          <p:nvPr/>
        </p:nvSpPr>
        <p:spPr>
          <a:xfrm>
            <a:off x="6464138" y="2823666"/>
            <a:ext cx="2082748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Tích hợp: Cloudinary lưu trữ Media tập trung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9067573" y="1519436"/>
            <a:ext cx="2514537" cy="4728964"/>
          </a:xfrm>
          <a:prstGeom prst="rect">
            <a:avLst/>
          </a:prstGeom>
          <a:solidFill>
            <a:srgbClr val="17102B"/>
          </a:solidFill>
          <a:ln w="12700">
            <a:solidFill>
              <a:srgbClr val="4A3670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3468" y="1786136"/>
            <a:ext cx="355591" cy="355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83468" y="2267231"/>
            <a:ext cx="208274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Email SMTP</a:t>
            </a:r>
            <a:endParaRPr lang="en-US" sz="1700" dirty="0"/>
          </a:p>
        </p:txBody>
      </p:sp>
      <p:sp>
        <p:nvSpPr>
          <p:cNvPr id="22" name="Shape 16"/>
          <p:cNvSpPr/>
          <p:nvPr/>
        </p:nvSpPr>
        <p:spPr>
          <a:xfrm>
            <a:off x="9283468" y="2655391"/>
            <a:ext cx="2082748" cy="19050"/>
          </a:xfrm>
          <a:prstGeom prst="roundRect">
            <a:avLst>
              <a:gd name="adj" fmla="val 49999"/>
            </a:avLst>
          </a:prstGeom>
          <a:solidFill>
            <a:srgbClr val="7C3AED"/>
          </a:solidFill>
          <a:ln/>
        </p:spPr>
      </p:sp>
      <p:sp>
        <p:nvSpPr>
          <p:cNvPr id="23" name="Text 17"/>
          <p:cNvSpPr/>
          <p:nvPr/>
        </p:nvSpPr>
        <p:spPr>
          <a:xfrm>
            <a:off x="9283468" y="2823666"/>
            <a:ext cx="208274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Nodemailer xử lý Email SMTP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77895" y="6466086"/>
            <a:ext cx="89780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2026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939090" y="6466086"/>
            <a:ext cx="25260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08 — CƠ SỞ DỮ LIỆU &amp; BẢO MẬT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08560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F2ED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Kiến trúc cơ sở dữ liệu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83" y="2678708"/>
            <a:ext cx="4825879" cy="23595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8891" y="2866922"/>
            <a:ext cx="1042992" cy="120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50" dirty="0">
                <a:solidFill>
                  <a:srgbClr val="B79CF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Database Engine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98891" y="3038697"/>
            <a:ext cx="1042992" cy="240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7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Microsoft SQL Server 2022 core engine</a:t>
            </a:r>
            <a:endParaRPr lang="en-US" sz="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1757" y="3933467"/>
            <a:ext cx="149602" cy="14960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50735" y="2866922"/>
            <a:ext cx="1042992" cy="120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50" dirty="0">
                <a:solidFill>
                  <a:srgbClr val="B79CF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Model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4350735" y="3038697"/>
            <a:ext cx="1042992" cy="240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7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15 structured tables with optimized indexes</a:t>
            </a:r>
            <a:endParaRPr lang="en-US" sz="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9867" y="3933467"/>
            <a:ext cx="149602" cy="14960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8891" y="4107203"/>
            <a:ext cx="1042992" cy="120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50" dirty="0">
                <a:solidFill>
                  <a:srgbClr val="B79CF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Business Logic</a:t>
            </a:r>
            <a:endParaRPr lang="en-US" sz="850" dirty="0"/>
          </a:p>
        </p:txBody>
      </p:sp>
      <p:sp>
        <p:nvSpPr>
          <p:cNvPr id="12" name="Text 7"/>
          <p:cNvSpPr/>
          <p:nvPr/>
        </p:nvSpPr>
        <p:spPr>
          <a:xfrm>
            <a:off x="798891" y="4278978"/>
            <a:ext cx="1042992" cy="240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7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100% via Stored Procedures and functions</a:t>
            </a:r>
            <a:endParaRPr lang="en-US" sz="7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7976" y="3933467"/>
            <a:ext cx="149602" cy="14960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345910" y="4107203"/>
            <a:ext cx="1042992" cy="120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50" dirty="0">
                <a:solidFill>
                  <a:srgbClr val="B79CF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Security Layer</a:t>
            </a:r>
            <a:endParaRPr lang="en-US" sz="850" dirty="0"/>
          </a:p>
        </p:txBody>
      </p:sp>
      <p:sp>
        <p:nvSpPr>
          <p:cNvPr id="15" name="Text 9"/>
          <p:cNvSpPr/>
          <p:nvPr/>
        </p:nvSpPr>
        <p:spPr>
          <a:xfrm>
            <a:off x="4345910" y="4278978"/>
            <a:ext cx="1042992" cy="240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7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Absolute SQL Injection defense and validation</a:t>
            </a:r>
            <a:endParaRPr lang="en-US" sz="7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6086" y="3933467"/>
            <a:ext cx="149602" cy="149606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5892553" y="1468636"/>
            <a:ext cx="5689557" cy="4779764"/>
          </a:xfrm>
          <a:prstGeom prst="rect">
            <a:avLst/>
          </a:prstGeom>
          <a:solidFill>
            <a:srgbClr val="17102B"/>
          </a:solidFill>
          <a:ln w="12700">
            <a:solidFill>
              <a:srgbClr val="4A3670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6260844" y="2996770"/>
            <a:ext cx="495297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Tiêu chuẩn vận hành &amp; Tối ưu hóa dữ liệu</a:t>
            </a:r>
            <a:endParaRPr lang="en-US" sz="2000" dirty="0"/>
          </a:p>
        </p:txBody>
      </p:sp>
      <p:sp>
        <p:nvSpPr>
          <p:cNvPr id="19" name="Shape 12"/>
          <p:cNvSpPr/>
          <p:nvPr/>
        </p:nvSpPr>
        <p:spPr>
          <a:xfrm>
            <a:off x="6260844" y="3424337"/>
            <a:ext cx="4952876" cy="19050"/>
          </a:xfrm>
          <a:prstGeom prst="roundRect">
            <a:avLst>
              <a:gd name="adj" fmla="val 49999"/>
            </a:avLst>
          </a:prstGeom>
          <a:solidFill>
            <a:srgbClr val="B79CF5"/>
          </a:solidFill>
          <a:ln/>
        </p:spPr>
      </p:sp>
      <p:sp>
        <p:nvSpPr>
          <p:cNvPr id="20" name="Text 13"/>
          <p:cNvSpPr/>
          <p:nvPr/>
        </p:nvSpPr>
        <p:spPr>
          <a:xfrm>
            <a:off x="6260844" y="3614837"/>
            <a:ext cx="4952975" cy="1128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Microsoft SQL Server 2022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15 bảng dữ liệu, tối ưu chỉ mục Index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100% logic xử lý qua Stored Procedures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Chống SQL Injection tuyệt đối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177895" y="6466086"/>
            <a:ext cx="89780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2026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11940975" y="6466086"/>
            <a:ext cx="25072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5943" y="1397000"/>
            <a:ext cx="7619809" cy="4064000"/>
          </a:xfrm>
          <a:prstGeom prst="rect">
            <a:avLst/>
          </a:prstGeom>
          <a:noFill/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98642" y="1409700"/>
            <a:ext cx="7594410" cy="40386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451039" y="2048570"/>
            <a:ext cx="728961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SOCCER247 · HOÀN TẤT THUYẾT MINH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55831" y="2362454"/>
            <a:ext cx="6680033" cy="61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Chân thành cảm ơn!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451039" y="3100685"/>
            <a:ext cx="728961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Cảm ơn Thầy/Cô và các bạn đã chú ý lắng nghe phần trình bày.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260843" y="3570585"/>
            <a:ext cx="1669909" cy="19050"/>
          </a:xfrm>
          <a:prstGeom prst="roundRect">
            <a:avLst>
              <a:gd name="adj" fmla="val 49999"/>
            </a:avLst>
          </a:prstGeom>
          <a:solidFill>
            <a:srgbClr val="4A3670"/>
          </a:solidFill>
          <a:ln/>
        </p:spPr>
      </p:sp>
      <p:sp>
        <p:nvSpPr>
          <p:cNvPr id="8" name="Text 6"/>
          <p:cNvSpPr/>
          <p:nvPr/>
        </p:nvSpPr>
        <p:spPr>
          <a:xfrm>
            <a:off x="2755831" y="3975015"/>
            <a:ext cx="6680033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Q&amp;A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51039" y="4560491"/>
            <a:ext cx="728961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Phần hỏi đáp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623</Words>
  <Application>Microsoft Office PowerPoint</Application>
  <PresentationFormat>Màn hình rộng</PresentationFormat>
  <Paragraphs>112</Paragraphs>
  <Slides>10</Slides>
  <Notes>10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5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10</vt:i4>
      </vt:variant>
    </vt:vector>
  </HeadingPairs>
  <TitlesOfParts>
    <vt:vector size="16" baseType="lpstr">
      <vt:lpstr>Noto Sans</vt:lpstr>
      <vt:lpstr>Bitter</vt:lpstr>
      <vt:lpstr>Calibri</vt:lpstr>
      <vt:lpstr>Arial</vt:lpstr>
      <vt:lpstr>Bitter SemiBold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Bản trình bày PowerPoint</dc:title>
  <dc:subject/>
  <dc:creator/>
  <cp:lastModifiedBy>phamquangdung1710@gmail.com</cp:lastModifiedBy>
  <cp:revision>2</cp:revision>
  <dcterms:created xsi:type="dcterms:W3CDTF">2026-10-12T02:57:35Z</dcterms:created>
  <dcterms:modified xsi:type="dcterms:W3CDTF">2026-10-17T03:43:15Z</dcterms:modified>
</cp:coreProperties>
</file>